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Open Sauce Heavy" charset="1" panose="00000A00000000000000"/>
      <p:regular r:id="rId17"/>
    </p:embeddedFont>
    <p:embeddedFont>
      <p:font typeface="Open Sauce" charset="1" panose="00000500000000000000"/>
      <p:regular r:id="rId18"/>
    </p:embeddedFont>
    <p:embeddedFont>
      <p:font typeface="Open Sauce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59854" y="4008405"/>
            <a:ext cx="10368293" cy="244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94"/>
              </a:lnSpc>
            </a:pPr>
            <a:r>
              <a:rPr lang="en-US" b="true" sz="9308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DECENTRALIZED NFT CARD GAME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4048009" y="-741890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618699" y="-1086910"/>
            <a:ext cx="2173821" cy="2173821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0">
            <a:off x="-1631347" y="6083524"/>
            <a:ext cx="5874518" cy="5874518"/>
          </a:xfrm>
          <a:custGeom>
            <a:avLst/>
            <a:gdLst/>
            <a:ahLst/>
            <a:cxnLst/>
            <a:rect r="r" b="b" t="t" l="l"/>
            <a:pathLst>
              <a:path h="5874518" w="5874518">
                <a:moveTo>
                  <a:pt x="5874518" y="0"/>
                </a:moveTo>
                <a:lnTo>
                  <a:pt x="0" y="0"/>
                </a:lnTo>
                <a:lnTo>
                  <a:pt x="0" y="5874518"/>
                </a:lnTo>
                <a:lnTo>
                  <a:pt x="5874518" y="5874518"/>
                </a:lnTo>
                <a:lnTo>
                  <a:pt x="587451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-1123584" y="5143500"/>
            <a:ext cx="2598841" cy="2598841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856863" y="-1795549"/>
            <a:ext cx="7315200" cy="3591098"/>
          </a:xfrm>
          <a:custGeom>
            <a:avLst/>
            <a:gdLst/>
            <a:ahLst/>
            <a:cxnLst/>
            <a:rect r="r" b="b" t="t" l="l"/>
            <a:pathLst>
              <a:path h="3591098" w="7315200">
                <a:moveTo>
                  <a:pt x="0" y="0"/>
                </a:moveTo>
                <a:lnTo>
                  <a:pt x="7315200" y="0"/>
                </a:lnTo>
                <a:lnTo>
                  <a:pt x="7315200" y="3591098"/>
                </a:lnTo>
                <a:lnTo>
                  <a:pt x="0" y="359109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209035">
            <a:off x="-385801" y="12098"/>
            <a:ext cx="5902276" cy="4426707"/>
          </a:xfrm>
          <a:custGeom>
            <a:avLst/>
            <a:gdLst/>
            <a:ahLst/>
            <a:cxnLst/>
            <a:rect r="r" b="b" t="t" l="l"/>
            <a:pathLst>
              <a:path h="4426707" w="5902276">
                <a:moveTo>
                  <a:pt x="0" y="0"/>
                </a:moveTo>
                <a:lnTo>
                  <a:pt x="5902276" y="0"/>
                </a:lnTo>
                <a:lnTo>
                  <a:pt x="5902276" y="4426707"/>
                </a:lnTo>
                <a:lnTo>
                  <a:pt x="0" y="442670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4526489" y="8783410"/>
            <a:ext cx="9801658" cy="1353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9"/>
              </a:lnSpc>
            </a:pPr>
            <a:r>
              <a:rPr lang="en-US" sz="4677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Колесников Павел</a:t>
            </a:r>
          </a:p>
          <a:p>
            <a:pPr algn="ctr">
              <a:lnSpc>
                <a:spcPts val="5379"/>
              </a:lnSpc>
            </a:pPr>
            <a:r>
              <a:rPr lang="en-US" sz="4677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Фроленко Кирилл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679331" y="142875"/>
            <a:ext cx="10961264" cy="2138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94"/>
              </a:lnSpc>
            </a:pPr>
            <a:r>
              <a:rPr lang="en-US" b="true" sz="8131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ПРОБЛЕМА И РЕШЕНИЕ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45659" y="3455063"/>
            <a:ext cx="7198398" cy="4294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339" indent="-344670" lvl="1">
              <a:lnSpc>
                <a:spcPts val="3767"/>
              </a:lnSpc>
              <a:buFont typeface="Arial"/>
              <a:buChar char="•"/>
            </a:pPr>
            <a:r>
              <a:rPr lang="en-US" sz="31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Админ/сервер хранит все ставки;</a:t>
            </a:r>
          </a:p>
          <a:p>
            <a:pPr algn="l" marL="689339" indent="-344670" lvl="1">
              <a:lnSpc>
                <a:spcPts val="3767"/>
              </a:lnSpc>
              <a:buFont typeface="Arial"/>
              <a:buChar char="•"/>
            </a:pPr>
            <a:r>
              <a:rPr lang="en-US" sz="31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Результат игры считается на бэкенде;</a:t>
            </a:r>
          </a:p>
          <a:p>
            <a:pPr algn="l" marL="689339" indent="-344670" lvl="1">
              <a:lnSpc>
                <a:spcPts val="3767"/>
              </a:lnSpc>
              <a:buFont typeface="Arial"/>
              <a:buChar char="•"/>
            </a:pPr>
            <a:r>
              <a:rPr lang="en-US" sz="31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Нет прозрачности: где деньги, кто выиграл, сколько комиссий;</a:t>
            </a:r>
          </a:p>
          <a:p>
            <a:pPr algn="l" marL="689339" indent="-344670" lvl="1">
              <a:lnSpc>
                <a:spcPts val="3767"/>
              </a:lnSpc>
              <a:buFont typeface="Arial"/>
              <a:buChar char="•"/>
            </a:pPr>
            <a:r>
              <a:rPr lang="en-US" sz="31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Игроки не владеют своими активами по-настоящему.</a:t>
            </a:r>
          </a:p>
          <a:p>
            <a:pPr algn="l">
              <a:lnSpc>
                <a:spcPts val="3767"/>
              </a:lnSpc>
            </a:pPr>
          </a:p>
        </p:txBody>
      </p:sp>
      <p:grpSp>
        <p:nvGrpSpPr>
          <p:cNvPr name="Group 11" id="11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-1769375" y="2489273"/>
            <a:ext cx="10929338" cy="53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1"/>
              </a:lnSpc>
            </a:pPr>
            <a:r>
              <a:rPr lang="en-US" sz="3592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Проблема: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195432" y="2489273"/>
            <a:ext cx="10929338" cy="53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1"/>
              </a:lnSpc>
            </a:pPr>
            <a:r>
              <a:rPr lang="en-US" sz="3592" b="true">
                <a:solidFill>
                  <a:srgbClr val="007D9C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Решение: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060902" y="3416963"/>
            <a:ext cx="7198398" cy="261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339" indent="-344670" lvl="1">
              <a:lnSpc>
                <a:spcPts val="4150"/>
              </a:lnSpc>
              <a:buFont typeface="Arial"/>
              <a:buChar char="•"/>
            </a:pPr>
            <a:r>
              <a:rPr lang="en-US" sz="31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Ставки хранятся в PDA-эскроу;</a:t>
            </a:r>
          </a:p>
          <a:p>
            <a:pPr algn="l" marL="689339" indent="-344670" lvl="1">
              <a:lnSpc>
                <a:spcPts val="4150"/>
              </a:lnSpc>
              <a:buFont typeface="Arial"/>
              <a:buChar char="•"/>
            </a:pPr>
            <a:r>
              <a:rPr lang="en-US" sz="31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Результат считает блокчейн по формуле;</a:t>
            </a:r>
          </a:p>
          <a:p>
            <a:pPr algn="l" marL="689339" indent="-344670" lvl="1">
              <a:lnSpc>
                <a:spcPts val="4150"/>
              </a:lnSpc>
              <a:buFont typeface="Arial"/>
              <a:buChar char="•"/>
            </a:pPr>
            <a:r>
              <a:rPr lang="en-US" sz="31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Solana Explorer;</a:t>
            </a:r>
          </a:p>
          <a:p>
            <a:pPr algn="l" marL="689339" indent="-344670" lvl="1">
              <a:lnSpc>
                <a:spcPts val="4150"/>
              </a:lnSpc>
              <a:buFont typeface="Arial"/>
              <a:buChar char="•"/>
            </a:pPr>
            <a:r>
              <a:rPr lang="en-US" sz="31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NFT принадлежат игроку.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144000" y="1377845"/>
            <a:ext cx="6549492" cy="8366139"/>
          </a:xfrm>
          <a:custGeom>
            <a:avLst/>
            <a:gdLst/>
            <a:ahLst/>
            <a:cxnLst/>
            <a:rect r="r" b="b" t="t" l="l"/>
            <a:pathLst>
              <a:path h="8366139" w="6549492">
                <a:moveTo>
                  <a:pt x="0" y="0"/>
                </a:moveTo>
                <a:lnTo>
                  <a:pt x="6549492" y="0"/>
                </a:lnTo>
                <a:lnTo>
                  <a:pt x="6549492" y="8366138"/>
                </a:lnTo>
                <a:lnTo>
                  <a:pt x="0" y="836613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679331" y="123825"/>
            <a:ext cx="10961264" cy="94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2"/>
              </a:lnSpc>
            </a:pPr>
            <a:r>
              <a:rPr lang="en-US" b="true" sz="7032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ОБЩАЯ АРХИТЕКТУРА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4059596"/>
            <a:ext cx="7303973" cy="2177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4"/>
              </a:lnSpc>
            </a:pPr>
            <a:r>
              <a:rPr lang="en-US" sz="4859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Всё состояние игры - только на блокчейне</a:t>
            </a:r>
          </a:p>
          <a:p>
            <a:pPr algn="l">
              <a:lnSpc>
                <a:spcPts val="5734"/>
              </a:lnSpc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679331" y="123825"/>
            <a:ext cx="10961264" cy="94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2"/>
              </a:lnSpc>
            </a:pPr>
            <a:r>
              <a:rPr lang="en-US" b="true" sz="7032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ЭКОНОМИКА И БАНК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93075" y="1999444"/>
            <a:ext cx="9301850" cy="96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67"/>
              </a:lnSpc>
            </a:pPr>
            <a:r>
              <a:rPr lang="en-US" sz="31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Децентрализованный банк на двух PDA:</a:t>
            </a:r>
          </a:p>
          <a:p>
            <a:pPr algn="ctr">
              <a:lnSpc>
                <a:spcPts val="3767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4814365" y="2960053"/>
            <a:ext cx="9301850" cy="143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339" indent="-344670" lvl="1">
              <a:lnSpc>
                <a:spcPts val="3767"/>
              </a:lnSpc>
              <a:buFont typeface="Arial"/>
              <a:buChar char="•"/>
            </a:pPr>
            <a:r>
              <a:rPr lang="en-US" sz="31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bank_wallet (хранит весь SOL);</a:t>
            </a:r>
          </a:p>
          <a:p>
            <a:pPr algn="l" marL="689339" indent="-344670" lvl="1">
              <a:lnSpc>
                <a:spcPts val="3767"/>
              </a:lnSpc>
              <a:buFont typeface="Arial"/>
              <a:buChar char="•"/>
            </a:pPr>
            <a:r>
              <a:rPr lang="en-US" sz="31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bank_state (цены и админ).</a:t>
            </a:r>
          </a:p>
          <a:p>
            <a:pPr algn="ctr">
              <a:lnSpc>
                <a:spcPts val="3767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4814365" y="4929895"/>
            <a:ext cx="9301850" cy="96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7"/>
              </a:lnSpc>
            </a:pPr>
            <a:r>
              <a:rPr lang="en-US" sz="31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Цикл:</a:t>
            </a:r>
          </a:p>
          <a:p>
            <a:pPr algn="ctr">
              <a:lnSpc>
                <a:spcPts val="3767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4814365" y="5890505"/>
            <a:ext cx="9301850" cy="2389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89339" indent="-344670" lvl="1">
              <a:lnSpc>
                <a:spcPts val="3767"/>
              </a:lnSpc>
              <a:buFont typeface="Arial"/>
              <a:buChar char="•"/>
            </a:pPr>
            <a:r>
              <a:rPr lang="en-US" sz="31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Минт карты → 0.1 SOL в банк;</a:t>
            </a:r>
          </a:p>
          <a:p>
            <a:pPr algn="l" marL="689339" indent="-344670" lvl="1">
              <a:lnSpc>
                <a:spcPts val="3767"/>
              </a:lnSpc>
              <a:buFont typeface="Arial"/>
              <a:buChar char="•"/>
            </a:pPr>
            <a:r>
              <a:rPr lang="en-US" sz="31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Продажа банку → 0.09 SOL игроку;</a:t>
            </a:r>
          </a:p>
          <a:p>
            <a:pPr algn="l" marL="689339" indent="-344670" lvl="1">
              <a:lnSpc>
                <a:spcPts val="3767"/>
              </a:lnSpc>
              <a:buFont typeface="Arial"/>
              <a:buChar char="•"/>
            </a:pPr>
            <a:r>
              <a:rPr lang="en-US" sz="31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Прибыль банка = 0.01 SOL с каждой операции (10%).</a:t>
            </a:r>
          </a:p>
          <a:p>
            <a:pPr algn="ctr">
              <a:lnSpc>
                <a:spcPts val="3767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3395898" y="8276730"/>
            <a:ext cx="11528130" cy="960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7"/>
              </a:lnSpc>
            </a:pPr>
            <a:r>
              <a:rPr lang="en-US" sz="31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Админ может вывести прибыль только через withdraw</a:t>
            </a:r>
          </a:p>
          <a:p>
            <a:pPr algn="ctr">
              <a:lnSpc>
                <a:spcPts val="3767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315671" y="2174493"/>
            <a:ext cx="6649849" cy="6275795"/>
          </a:xfrm>
          <a:custGeom>
            <a:avLst/>
            <a:gdLst/>
            <a:ahLst/>
            <a:cxnLst/>
            <a:rect r="r" b="b" t="t" l="l"/>
            <a:pathLst>
              <a:path h="6275795" w="6649849">
                <a:moveTo>
                  <a:pt x="0" y="0"/>
                </a:moveTo>
                <a:lnTo>
                  <a:pt x="6649848" y="0"/>
                </a:lnTo>
                <a:lnTo>
                  <a:pt x="6649848" y="6275795"/>
                </a:lnTo>
                <a:lnTo>
                  <a:pt x="0" y="627579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2769062"/>
            <a:ext cx="11979856" cy="4375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32262" indent="-466131" lvl="1">
              <a:lnSpc>
                <a:spcPts val="5829"/>
              </a:lnSpc>
              <a:buFont typeface="Arial"/>
              <a:buChar char="•"/>
            </a:pPr>
            <a:r>
              <a:rPr lang="en-US" sz="4318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Платёж → bank_wallet PDA;</a:t>
            </a:r>
          </a:p>
          <a:p>
            <a:pPr algn="l" marL="932262" indent="-466131" lvl="1">
              <a:lnSpc>
                <a:spcPts val="5829"/>
              </a:lnSpc>
              <a:buFont typeface="Arial"/>
              <a:buChar char="•"/>
            </a:pPr>
            <a:r>
              <a:rPr lang="en-US" sz="4318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Создаётся Mint (decimals=0);</a:t>
            </a:r>
          </a:p>
          <a:p>
            <a:pPr algn="l" marL="932262" indent="-466131" lvl="1">
              <a:lnSpc>
                <a:spcPts val="5829"/>
              </a:lnSpc>
              <a:buFont typeface="Arial"/>
              <a:buChar char="•"/>
            </a:pPr>
            <a:r>
              <a:rPr lang="en-US" sz="4318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Минтится 1 токен;</a:t>
            </a:r>
          </a:p>
          <a:p>
            <a:pPr algn="l" marL="932262" indent="-466131" lvl="1">
              <a:lnSpc>
                <a:spcPts val="5829"/>
              </a:lnSpc>
              <a:buFont typeface="Arial"/>
              <a:buChar char="•"/>
            </a:pPr>
            <a:r>
              <a:rPr lang="en-US" sz="4318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Создание аккаунта Metadata;</a:t>
            </a:r>
          </a:p>
          <a:p>
            <a:pPr algn="l" marL="932262" indent="-466131" lvl="1">
              <a:lnSpc>
                <a:spcPts val="5829"/>
              </a:lnSpc>
              <a:buFont typeface="Arial"/>
              <a:buChar char="•"/>
            </a:pPr>
            <a:r>
              <a:rPr lang="en-US" sz="4318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Создание аккаунта Master Edition;</a:t>
            </a:r>
          </a:p>
          <a:p>
            <a:pPr algn="l" marL="932262" indent="-466131" lvl="1">
              <a:lnSpc>
                <a:spcPts val="5829"/>
              </a:lnSpc>
              <a:buFont typeface="Arial"/>
              <a:buChar char="•"/>
            </a:pPr>
            <a:r>
              <a:rPr lang="en-US" sz="4318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Создаётся CardMeta.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79331" y="123825"/>
            <a:ext cx="10961264" cy="9418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2"/>
              </a:lnSpc>
            </a:pPr>
            <a:r>
              <a:rPr lang="en-US" b="true" sz="7032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МИНТ NFT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615550" y="2489273"/>
            <a:ext cx="10951357" cy="53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Создание матча (create_match):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875014" y="4035746"/>
            <a:ext cx="14146136" cy="374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Игрок выбирает свою NFT;</a:t>
            </a:r>
          </a:p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Создание матча;</a:t>
            </a:r>
          </a:p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Создаётся MatchAccount PDA (хранит статус, игроков, типы карт);</a:t>
            </a:r>
          </a:p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Создаётся новый escrow-аккаунт (ATA);</a:t>
            </a:r>
          </a:p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NFT переводится в escrow-аккаунт;</a:t>
            </a:r>
          </a:p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Escrow ATA: owner = match_pda.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6894" y="167274"/>
            <a:ext cx="14608669" cy="184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2"/>
              </a:lnSpc>
            </a:pPr>
            <a:r>
              <a:rPr lang="en-US" b="true" sz="7032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КАК РАБОТАЕТ МАТЧ - СОЗДАНИЕ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75014" y="8766560"/>
            <a:ext cx="12010760" cy="53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Никто не может вернуть карту до окончания матча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1390864" y="3666660"/>
            <a:ext cx="10450800" cy="2442875"/>
          </a:xfrm>
          <a:custGeom>
            <a:avLst/>
            <a:gdLst/>
            <a:ahLst/>
            <a:cxnLst/>
            <a:rect r="r" b="b" t="t" l="l"/>
            <a:pathLst>
              <a:path h="2442875" w="10450800">
                <a:moveTo>
                  <a:pt x="0" y="0"/>
                </a:moveTo>
                <a:lnTo>
                  <a:pt x="10450801" y="0"/>
                </a:lnTo>
                <a:lnTo>
                  <a:pt x="10450801" y="2442875"/>
                </a:lnTo>
                <a:lnTo>
                  <a:pt x="0" y="2442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383952" y="1949835"/>
            <a:ext cx="10131754" cy="5876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Второй игрок видит открытый матч в лобби и жмёт «ВОЙТИ В МАТЧ»;</a:t>
            </a:r>
          </a:p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Бэкенд строит транзакцию join_match;</a:t>
            </a:r>
          </a:p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Проверка: матч действительно OPEN и не его же;</a:t>
            </a:r>
          </a:p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Создаётся второй escrow-аккаунт (владельцем является тот же match_pda);</a:t>
            </a:r>
          </a:p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NFT оппонента переводится из его кошелька в escrow ATA #2;</a:t>
            </a:r>
          </a:p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В MatchAccount записывается вся информация об оппоненте;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6894" y="157749"/>
            <a:ext cx="14608669" cy="86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0"/>
              </a:lnSpc>
            </a:pPr>
            <a:r>
              <a:rPr lang="en-US" b="true" sz="6432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ВХОД В МАТЧ + НАЧАЛО ИГРЫ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75014" y="8766560"/>
            <a:ext cx="12962686" cy="53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Никто не может вывести ни одну карту до resolve_match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2875014" y="1791559"/>
            <a:ext cx="13260901" cy="53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resolve_match может вызвать ЛЮБОЙ человек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31654" y="3052624"/>
            <a:ext cx="12547621" cy="4801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98706" indent="-399353" lvl="1">
              <a:lnSpc>
                <a:spcPts val="4735"/>
              </a:lnSpc>
              <a:buFont typeface="Arial"/>
              <a:buChar char="•"/>
            </a:pPr>
            <a:r>
              <a:rPr lang="en-US" sz="3699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Читает типы карт из MatchAccount;</a:t>
            </a:r>
          </a:p>
          <a:p>
            <a:pPr algn="l" marL="798706" indent="-399353" lvl="1">
              <a:lnSpc>
                <a:spcPts val="4735"/>
              </a:lnSpc>
              <a:buFont typeface="Arial"/>
              <a:buChar char="•"/>
            </a:pPr>
            <a:r>
              <a:rPr lang="en-US" sz="3699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Формула: ((a - b + 3) % 3) → 0=ничья, 1=создатель выиграл, 2=оппонент выиграл;</a:t>
            </a:r>
          </a:p>
          <a:p>
            <a:pPr algn="l" marL="798706" indent="-399353" lvl="1">
              <a:lnSpc>
                <a:spcPts val="4735"/>
              </a:lnSpc>
              <a:buFont typeface="Arial"/>
              <a:buChar char="•"/>
            </a:pPr>
            <a:r>
              <a:rPr lang="en-US" sz="3699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Программа подписывает два перевода от имени match_pda;</a:t>
            </a:r>
          </a:p>
          <a:p>
            <a:pPr algn="l" marL="798706" indent="-399353" lvl="1">
              <a:lnSpc>
                <a:spcPts val="4735"/>
              </a:lnSpc>
              <a:buFont typeface="Arial"/>
              <a:buChar char="•"/>
            </a:pPr>
            <a:r>
              <a:rPr lang="en-US" sz="3699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Переводит обе NFT победителю (возвращает обратно NFT первоначальным держателям);</a:t>
            </a:r>
          </a:p>
          <a:p>
            <a:pPr algn="l" marL="798706" indent="-399353" lvl="1">
              <a:lnSpc>
                <a:spcPts val="4735"/>
              </a:lnSpc>
              <a:buFont typeface="Arial"/>
              <a:buChar char="•"/>
            </a:pPr>
            <a:r>
              <a:rPr lang="en-US" sz="3699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Меняет статус на FINISHED навсегда.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6894" y="157749"/>
            <a:ext cx="14608669" cy="86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0"/>
              </a:lnSpc>
            </a:pPr>
            <a:r>
              <a:rPr lang="en-US" b="true" sz="6432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РАСЧЁТ РЕЗУЛЬТАТА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786894" y="2064904"/>
            <a:ext cx="14440683" cy="1061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Разработчик не может украсть все ставки (NFT): все NFT в escrow-аккаунтах, owner = match_pda. 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86894" y="157749"/>
            <a:ext cx="14608669" cy="86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0"/>
              </a:lnSpc>
            </a:pPr>
            <a:r>
              <a:rPr lang="en-US" b="true" sz="6432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БЕЗОПАСНОСТЬ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86894" y="3558585"/>
            <a:ext cx="14440683" cy="158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Разработчик не может украсть деньги банка: SOL в bank_wallet PDA. Вывод только через публичную инструкцию withdraw_bank.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86894" y="5429250"/>
            <a:ext cx="14440683" cy="158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Нельзя подменить результат матча: тип карты записан в CardMeta при минте и копируется в MatchAccount. Нельзя изменить после создания.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531172" y="7565619"/>
            <a:ext cx="14440683" cy="1584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1"/>
              </a:lnSpc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Сервер не может влиять на результат: сервер вообще не участвует в расчёте. Результат считает блокчейн по определенной формуле.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522559" y="1242737"/>
            <a:ext cx="10929338" cy="53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1"/>
              </a:lnSpc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Что сделано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786894" y="157749"/>
            <a:ext cx="14608669" cy="8614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60"/>
              </a:lnSpc>
            </a:pPr>
            <a:r>
              <a:rPr lang="en-US" b="true" sz="6432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ЗАКЛЮЧЕНИЕ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22559" y="2206404"/>
            <a:ext cx="10929338" cy="32095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Полноценный Metaplex NFT с кастомными данными;</a:t>
            </a:r>
          </a:p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Полностью on-chain игра с NFT-ставками;</a:t>
            </a:r>
          </a:p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Децентрализованный банк с 10 % комиссией;</a:t>
            </a:r>
          </a:p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Работа через escrow.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79331" y="5810618"/>
            <a:ext cx="10929338" cy="537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1"/>
              </a:lnSpc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Что дальше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626560" y="6776408"/>
            <a:ext cx="10929338" cy="1609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Турниры и рейтинги;</a:t>
            </a:r>
          </a:p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Различная редкость карт;</a:t>
            </a:r>
          </a:p>
          <a:p>
            <a:pPr algn="l" marL="775697" indent="-387848" lvl="1">
              <a:lnSpc>
                <a:spcPts val="4239"/>
              </a:lnSpc>
              <a:buFont typeface="Arial"/>
              <a:buChar char="•"/>
            </a:pPr>
            <a:r>
              <a:rPr lang="en-US" sz="3592">
                <a:solidFill>
                  <a:srgbClr val="007D9C"/>
                </a:solidFill>
                <a:latin typeface="Open Sauce"/>
                <a:ea typeface="Open Sauce"/>
                <a:cs typeface="Open Sauce"/>
                <a:sym typeface="Open Sauce"/>
              </a:rPr>
              <a:t>Увеличение типов карт NFT.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FF2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443283" y="-800100"/>
            <a:ext cx="5160004" cy="2580002"/>
          </a:xfrm>
          <a:custGeom>
            <a:avLst/>
            <a:gdLst/>
            <a:ahLst/>
            <a:cxnLst/>
            <a:rect r="r" b="b" t="t" l="l"/>
            <a:pathLst>
              <a:path h="2580002" w="5160004">
                <a:moveTo>
                  <a:pt x="0" y="0"/>
                </a:moveTo>
                <a:lnTo>
                  <a:pt x="5160004" y="0"/>
                </a:lnTo>
                <a:lnTo>
                  <a:pt x="5160004" y="2580002"/>
                </a:lnTo>
                <a:lnTo>
                  <a:pt x="0" y="258000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-1352580" y="7144503"/>
            <a:ext cx="4227594" cy="4227594"/>
          </a:xfrm>
          <a:custGeom>
            <a:avLst/>
            <a:gdLst/>
            <a:ahLst/>
            <a:cxnLst/>
            <a:rect r="r" b="b" t="t" l="l"/>
            <a:pathLst>
              <a:path h="4227594" w="4227594">
                <a:moveTo>
                  <a:pt x="4227594" y="0"/>
                </a:moveTo>
                <a:lnTo>
                  <a:pt x="0" y="0"/>
                </a:lnTo>
                <a:lnTo>
                  <a:pt x="0" y="4227594"/>
                </a:lnTo>
                <a:lnTo>
                  <a:pt x="4227594" y="4227594"/>
                </a:lnTo>
                <a:lnTo>
                  <a:pt x="422759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01900" y="78432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7259300" y="6703862"/>
            <a:ext cx="2053173" cy="2053173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5CC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3285545" y="-800100"/>
            <a:ext cx="5816717" cy="2855479"/>
          </a:xfrm>
          <a:custGeom>
            <a:avLst/>
            <a:gdLst/>
            <a:ahLst/>
            <a:cxnLst/>
            <a:rect r="r" b="b" t="t" l="l"/>
            <a:pathLst>
              <a:path h="2855479" w="5816717">
                <a:moveTo>
                  <a:pt x="0" y="0"/>
                </a:moveTo>
                <a:lnTo>
                  <a:pt x="5816717" y="0"/>
                </a:lnTo>
                <a:lnTo>
                  <a:pt x="5816717" y="2855479"/>
                </a:lnTo>
                <a:lnTo>
                  <a:pt x="0" y="28554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638476" y="1080055"/>
            <a:ext cx="1399693" cy="139969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D9C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3959854" y="3422440"/>
            <a:ext cx="10368293" cy="3680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185"/>
              </a:lnSpc>
            </a:pPr>
            <a:r>
              <a:rPr lang="en-US" b="true" sz="13907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THANK</a:t>
            </a:r>
          </a:p>
          <a:p>
            <a:pPr algn="ctr">
              <a:lnSpc>
                <a:spcPts val="14185"/>
              </a:lnSpc>
            </a:pPr>
            <a:r>
              <a:rPr lang="en-US" b="true" sz="13907">
                <a:solidFill>
                  <a:srgbClr val="007D9C"/>
                </a:solidFill>
                <a:latin typeface="Open Sauce Heavy"/>
                <a:ea typeface="Open Sauce Heavy"/>
                <a:cs typeface="Open Sauce Heavy"/>
                <a:sym typeface="Open Sauce Heavy"/>
              </a:rPr>
              <a:t>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DAG6MZCFRh8</dc:identifier>
  <dcterms:modified xsi:type="dcterms:W3CDTF">2011-08-01T06:04:30Z</dcterms:modified>
  <cp:revision>1</cp:revision>
  <dc:title>DNCG</dc:title>
</cp:coreProperties>
</file>